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50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Vou apresentar o Excel Data Analyzer, um sistema que transforma planilhas Excel em gráficos automaticamente — e toda a documentação de engenharia de requisitos por trás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trabalha com dados conhece a dor: montar gráficos manualmente toma tempo, exige saber qual visualização usar, e as planilhas raramente vêm limpas.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é simples: o usuário faz upload da planilha e o sistema detecta os tipos de dados, identifica padrões e gera os gráficos mais adequados — sem nenhuma configuração.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produto funcionando: o usuário solta o arquivo, e em segundos recebe um dashboard interativo — pode trocar o tipo do gráfico, filtrar dados e baixar as imagens. (Se possível, fazer demo ao vivo aqui.)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Tecnicamente, é uma arquitetura desacoplada: um frontend em React conversa com uma API FastAPI via REST. O processamento é todo em memória — nenhum arquivo é salvo no servidor, o que também é uma decisão de privacidade.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codar, fizemos o levantamento de requisitos: analisamos o problema, prototipamos telas e nos inspiramos em ferramentas de BI. Também mapeamos os envolvidos — do usuário final ao avaliador.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Traduzimos isso em requisitos funcionais — o que o sistema faz — e não funcionais — a qualidade com que ele faz. E o diferencial: cada requisito está rastreado ao código que o implementa.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essa especificação foi consolidada em um documento SRS formal, seguindo a estrutura do IEEE 830 e a norma ISO/IEC/IEEE 29148, que cobre todo o ciclo de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do documento formal, organizamos os requisitos como backlog ágil, com histórias de usuário e dois acordos de qualidade: o Definition of Ready, que diz quando um item pode entrar na sprint, e o Definition of Done, que diz quando está realmente concluído.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fizemos a validação: verificação — estamos construindo certo, com requisitos testáveis — e validação — é o produto certo, com cenários de aceitação que ligam cada necessidade ao código e ao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pensando em quem baixa o projeto: containerizamos tudo com Docker. Um único comando sobe a aplicação inteira, sem precisar instalar nada além do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resumo: entregamos um sistema funcional, uma documentação de requisitos completa e tudo pronto para rodar. Como evolução, pensamos em testes automatizados, autenticação real e exportação de relatórios.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fim, o projeto também dialoga com a Agenda 2030: ele se conecta à ODS 9 — Indústria, Inovação e Infraestrutura. Inovamos ao automatizar a análise de dados; oferecemos uma infraestrutura digital acessível, open-source e containerizada, que roda em qualquer máquina sem custo de licença; e promovemos inclusão, levando análise de dados a pequenas empresas e usuários que antes não tinham acesso a ferramentas de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Era isso! Obrigado pela atenção — fico à disposição para perguntas e para uma demonstração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700338"/>
            <a:ext cx="685800" cy="685800"/>
          </a:xfrm>
          <a:prstGeom prst="roundRect">
            <a:avLst>
              <a:gd name="adj" fmla="val 27778"/>
            </a:avLst>
          </a:prstGeom>
          <a:gradFill rotWithShape="1">
            <a:gsLst>
              <a:gs pos="0">
                <a:srgbClr val="6366F1">
                  <a:alpha val="100000"/>
                </a:srgbClr>
              </a:gs>
              <a:gs pos="100000">
                <a:srgbClr val="4F46E5">
                  <a:alpha val="100000"/>
                </a:srgbClr>
              </a:gs>
            </a:gsLst>
            <a:lin ang="2700000" scaled="0"/>
          </a:gradFill>
          <a:ln/>
          <a:effectLst>
            <a:outerShdw blurRad="285750" dist="114300" dir="5400000" algn="bl" rotWithShape="0">
              <a:srgbClr val="4F46E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9675" y="2862263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5000" y="2905125"/>
            <a:ext cx="2646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ANALYZER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47750" y="3767138"/>
            <a:ext cx="9093645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225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 Data Analyzer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1047750" y="6015038"/>
            <a:ext cx="745617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planilha ao gráfico inteligente em segundos.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47750" y="7615238"/>
            <a:ext cx="30409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Engenharia de Requisitos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983682" y="7724775"/>
            <a:ext cx="57150" cy="5715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212282" y="7615238"/>
            <a:ext cx="22389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acadêmico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19106" y="7724775"/>
            <a:ext cx="57150" cy="5715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647706" y="7615238"/>
            <a:ext cx="6494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500991" y="3490913"/>
            <a:ext cx="4953000" cy="3609975"/>
          </a:xfrm>
          <a:prstGeom prst="roundRect">
            <a:avLst>
              <a:gd name="adj" fmla="val 738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66750" dist="28575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72466" y="3876675"/>
            <a:ext cx="24765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234416" y="3862387"/>
            <a:ext cx="22128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vendas_2025.xlsx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11910566" y="5491163"/>
            <a:ext cx="546050" cy="800100"/>
          </a:xfrm>
          <a:prstGeom prst="roundRect">
            <a:avLst>
              <a:gd name="adj" fmla="val 13955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12628066" y="5072063"/>
            <a:ext cx="546199" cy="1219200"/>
          </a:xfrm>
          <a:prstGeom prst="roundRect">
            <a:avLst>
              <a:gd name="adj" fmla="val 13951"/>
            </a:avLst>
          </a:prstGeom>
          <a:solidFill>
            <a:srgbClr val="C7D2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13345716" y="5300663"/>
            <a:ext cx="546050" cy="990600"/>
          </a:xfrm>
          <a:prstGeom prst="roundRect">
            <a:avLst>
              <a:gd name="adj" fmla="val 13955"/>
            </a:avLst>
          </a:prstGeom>
          <a:solidFill>
            <a:srgbClr val="A5B4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14063216" y="4729163"/>
            <a:ext cx="546199" cy="1562100"/>
          </a:xfrm>
          <a:prstGeom prst="roundRect">
            <a:avLst>
              <a:gd name="adj" fmla="val 13951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14780865" y="4957763"/>
            <a:ext cx="546050" cy="1333500"/>
          </a:xfrm>
          <a:prstGeom prst="roundRect">
            <a:avLst>
              <a:gd name="adj" fmla="val 13955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15498366" y="4386263"/>
            <a:ext cx="546050" cy="1905000"/>
          </a:xfrm>
          <a:prstGeom prst="roundRect">
            <a:avLst>
              <a:gd name="adj" fmla="val 13955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72466" y="6510338"/>
            <a:ext cx="209550" cy="2095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177266" y="6500813"/>
            <a:ext cx="34875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gráficos gerados automaticamente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Analisar planilhas dá trabalho.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4219129"/>
            <a:ext cx="5168801" cy="2659261"/>
          </a:xfrm>
          <a:prstGeom prst="roundRect">
            <a:avLst>
              <a:gd name="adj" fmla="val 85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38275" y="4647754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9250" y="4828729"/>
            <a:ext cx="361950" cy="361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8275" y="5657404"/>
            <a:ext cx="451938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Montar gráficos manualmente é </a:t>
            </a:r>
            <a:r>
              <a:rPr lang="en-US" sz="24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demorado</a:t>
            </a: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59451" y="4219129"/>
            <a:ext cx="5168950" cy="2659261"/>
          </a:xfrm>
          <a:prstGeom prst="roundRect">
            <a:avLst>
              <a:gd name="adj" fmla="val 85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949976" y="4647754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0951" y="4828729"/>
            <a:ext cx="361950" cy="3619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976" y="5657404"/>
            <a:ext cx="4519537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 todo usuário sabe </a:t>
            </a:r>
            <a:r>
              <a:rPr lang="en-US" sz="24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gráfico </a:t>
            </a: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usar.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2071300" y="4191446"/>
            <a:ext cx="5168950" cy="271462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" dist="9525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12461825" y="4620071"/>
            <a:ext cx="723900" cy="723900"/>
          </a:xfrm>
          <a:prstGeom prst="roundRect">
            <a:avLst>
              <a:gd name="adj" fmla="val 23684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42800" y="4801046"/>
            <a:ext cx="361950" cy="3619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61825" y="5629721"/>
            <a:ext cx="4519537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Planilhas chegam </a:t>
            </a:r>
            <a:r>
              <a:rPr lang="en-US" sz="24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bagunçadas </a:t>
            </a:r>
            <a:r>
              <a:rPr lang="en-US" sz="24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inconsistentes.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553557" y="9525000"/>
            <a:ext cx="7628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14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Faça upload. O sistema faz o resto.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55850" y="4615755"/>
            <a:ext cx="1219200" cy="1219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632025" y="449193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593925" y="449193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750" y="4958655"/>
            <a:ext cx="533400" cy="53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5149" y="6082605"/>
            <a:ext cx="24406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do Excel</a:t>
            </a:r>
            <a:endParaRPr lang="en-US" sz="2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3151" y="5072955"/>
            <a:ext cx="1143000" cy="38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34251" y="4615755"/>
            <a:ext cx="1219200" cy="1219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8410426" y="449193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8372326" y="449193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7151" y="4958655"/>
            <a:ext cx="533400" cy="533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94183" y="6082605"/>
            <a:ext cx="28994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automática</a:t>
            </a:r>
            <a:endParaRPr lang="en-US" sz="2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61700" y="5072955"/>
            <a:ext cx="1143000" cy="3810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4312801" y="4615755"/>
            <a:ext cx="1219200" cy="121920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  <a:effectLst>
            <a:outerShdw blurRad="457200" dist="209550" dir="5400000" algn="bl" rotWithShape="0">
              <a:srgbClr val="4F46E5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1"/>
          <p:cNvSpPr/>
          <p:nvPr/>
        </p:nvSpPr>
        <p:spPr>
          <a:xfrm>
            <a:off x="14179451" y="4482405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2"/>
          <p:cNvSpPr/>
          <p:nvPr/>
        </p:nvSpPr>
        <p:spPr>
          <a:xfrm>
            <a:off x="14141351" y="4482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55701" y="4958655"/>
            <a:ext cx="533400" cy="533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636935" y="6082605"/>
            <a:ext cx="25710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prontos</a:t>
            </a:r>
            <a:endParaRPr lang="en-US" sz="2250" dirty="0"/>
          </a:p>
        </p:txBody>
      </p:sp>
      <p:sp>
        <p:nvSpPr>
          <p:cNvPr id="21" name="Shape 14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5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6551027" y="9525000"/>
            <a:ext cx="7654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14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685800"/>
            <a:ext cx="47007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DEMONSTRAÇÃO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66800"/>
            <a:ext cx="4700796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Veja na prática.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2605891" y="1208633"/>
            <a:ext cx="1036141" cy="4381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796391" y="1303883"/>
            <a:ext cx="7313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737282" y="1208633"/>
            <a:ext cx="867668" cy="4381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927782" y="1303883"/>
            <a:ext cx="5628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4700200" y="1208633"/>
            <a:ext cx="924223" cy="4381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890700" y="1303883"/>
            <a:ext cx="6194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pizza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719673" y="1208633"/>
            <a:ext cx="1520577" cy="4381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5910173" y="1303883"/>
            <a:ext cx="12157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1951583"/>
            <a:ext cx="16192500" cy="7440067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66750" dist="28575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057275" y="1961108"/>
            <a:ext cx="16173450" cy="70485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57275" y="2656433"/>
            <a:ext cx="161734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266825" y="2242096"/>
            <a:ext cx="133350" cy="133350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485900" y="2242096"/>
            <a:ext cx="133350" cy="133350"/>
          </a:xfrm>
          <a:prstGeom prst="ellipse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704975" y="2242096"/>
            <a:ext cx="133350" cy="13335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990725" y="2113508"/>
            <a:ext cx="40005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152650" y="2189708"/>
            <a:ext cx="379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localhost:8080/dashboard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057275" y="3342233"/>
            <a:ext cx="16173450" cy="9525"/>
          </a:xfrm>
          <a:prstGeom prst="rect">
            <a:avLst/>
          </a:prstGeom>
          <a:solidFill>
            <a:srgbClr val="EEF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323975" y="2842171"/>
            <a:ext cx="323850" cy="32385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0175" y="2918371"/>
            <a:ext cx="171450" cy="1714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81175" y="2880271"/>
            <a:ext cx="16708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Analyzer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3566815" y="2837408"/>
            <a:ext cx="1221284" cy="333375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3700165" y="2894558"/>
            <a:ext cx="10307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5054798" y="2894558"/>
            <a:ext cx="6563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Planos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15514886" y="2818358"/>
            <a:ext cx="1449139" cy="371475"/>
          </a:xfrm>
          <a:prstGeom prst="roundRect">
            <a:avLst>
              <a:gd name="adj" fmla="val 20513"/>
            </a:avLst>
          </a:prstGeom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15676811" y="2894558"/>
            <a:ext cx="12014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 Upload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1057275" y="3351758"/>
            <a:ext cx="16173450" cy="6030367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1323975" y="3580358"/>
            <a:ext cx="3795713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EAEF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1524000" y="3742283"/>
            <a:ext cx="37352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524000" y="3942308"/>
            <a:ext cx="37352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1.245</a:t>
            </a:r>
            <a:endParaRPr lang="en-US" sz="2550" dirty="0"/>
          </a:p>
        </p:txBody>
      </p:sp>
      <p:sp>
        <p:nvSpPr>
          <p:cNvPr id="33" name="Shape 30"/>
          <p:cNvSpPr/>
          <p:nvPr/>
        </p:nvSpPr>
        <p:spPr>
          <a:xfrm>
            <a:off x="5272088" y="3580358"/>
            <a:ext cx="3795713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EAEF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472113" y="3742283"/>
            <a:ext cx="37352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Colunas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5472113" y="3942308"/>
            <a:ext cx="37352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2550" dirty="0"/>
          </a:p>
        </p:txBody>
      </p:sp>
      <p:sp>
        <p:nvSpPr>
          <p:cNvPr id="36" name="Shape 33"/>
          <p:cNvSpPr/>
          <p:nvPr/>
        </p:nvSpPr>
        <p:spPr>
          <a:xfrm>
            <a:off x="9220200" y="3580358"/>
            <a:ext cx="3795713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EAEF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9420225" y="3742283"/>
            <a:ext cx="37352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Numéricas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9420225" y="3942308"/>
            <a:ext cx="37352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550" dirty="0"/>
          </a:p>
        </p:txBody>
      </p:sp>
      <p:sp>
        <p:nvSpPr>
          <p:cNvPr id="39" name="Shape 36"/>
          <p:cNvSpPr/>
          <p:nvPr/>
        </p:nvSpPr>
        <p:spPr>
          <a:xfrm>
            <a:off x="13168313" y="3580358"/>
            <a:ext cx="3795713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EAEF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13368338" y="3742283"/>
            <a:ext cx="37352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Categóricas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13368338" y="3942308"/>
            <a:ext cx="373522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4F46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550" dirty="0"/>
          </a:p>
        </p:txBody>
      </p:sp>
      <p:sp>
        <p:nvSpPr>
          <p:cNvPr id="42" name="Shape 39"/>
          <p:cNvSpPr/>
          <p:nvPr/>
        </p:nvSpPr>
        <p:spPr>
          <a:xfrm>
            <a:off x="1323975" y="4761458"/>
            <a:ext cx="6134100" cy="4392067"/>
          </a:xfrm>
          <a:prstGeom prst="roundRect">
            <a:avLst>
              <a:gd name="adj" fmla="val 3036"/>
            </a:avLst>
          </a:prstGeom>
          <a:solidFill>
            <a:srgbClr val="FFFFFF"/>
          </a:solidFill>
          <a:ln w="9525">
            <a:solidFill>
              <a:srgbClr val="EAEF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1543050" y="4942433"/>
            <a:ext cx="6265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 mais vendidos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543050" y="5304383"/>
            <a:ext cx="971550" cy="3372892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1699171" y="8753475"/>
            <a:ext cx="735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</a:t>
            </a:r>
            <a:endParaRPr lang="en-US" sz="1125" dirty="0"/>
          </a:p>
        </p:txBody>
      </p:sp>
      <p:sp>
        <p:nvSpPr>
          <p:cNvPr id="46" name="Shape 43"/>
          <p:cNvSpPr/>
          <p:nvPr/>
        </p:nvSpPr>
        <p:spPr>
          <a:xfrm>
            <a:off x="2724150" y="5809655"/>
            <a:ext cx="971550" cy="2867620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2950518" y="8753475"/>
            <a:ext cx="5948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3905250" y="6136332"/>
            <a:ext cx="971550" cy="2540943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6"/>
          <p:cNvSpPr/>
          <p:nvPr/>
        </p:nvSpPr>
        <p:spPr>
          <a:xfrm>
            <a:off x="4124027" y="8753475"/>
            <a:ext cx="6101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Teclado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5086350" y="6463010"/>
            <a:ext cx="971550" cy="2214265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5343079" y="8753475"/>
            <a:ext cx="5341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Mouse</a:t>
            </a:r>
            <a:endParaRPr lang="en-US" sz="1125" dirty="0"/>
          </a:p>
        </p:txBody>
      </p:sp>
      <p:sp>
        <p:nvSpPr>
          <p:cNvPr id="52" name="Shape 49"/>
          <p:cNvSpPr/>
          <p:nvPr/>
        </p:nvSpPr>
        <p:spPr>
          <a:xfrm>
            <a:off x="6267450" y="7080052"/>
            <a:ext cx="971550" cy="1597223"/>
          </a:xfrm>
          <a:prstGeom prst="roundRect">
            <a:avLst>
              <a:gd name="adj" fmla="val 5882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0"/>
          <p:cNvSpPr/>
          <p:nvPr/>
        </p:nvSpPr>
        <p:spPr>
          <a:xfrm>
            <a:off x="6471196" y="8753475"/>
            <a:ext cx="64025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Headset</a:t>
            </a:r>
            <a:endParaRPr lang="en-US" sz="1125" dirty="0"/>
          </a:p>
        </p:txBody>
      </p:sp>
      <p:sp>
        <p:nvSpPr>
          <p:cNvPr id="54" name="Shape 51"/>
          <p:cNvSpPr/>
          <p:nvPr/>
        </p:nvSpPr>
        <p:spPr>
          <a:xfrm>
            <a:off x="7610475" y="4761458"/>
            <a:ext cx="4819650" cy="4392067"/>
          </a:xfrm>
          <a:prstGeom prst="roundRect">
            <a:avLst>
              <a:gd name="adj" fmla="val 3036"/>
            </a:avLst>
          </a:prstGeom>
          <a:solidFill>
            <a:srgbClr val="FFFFFF"/>
          </a:solidFill>
          <a:ln w="9525">
            <a:solidFill>
              <a:srgbClr val="EAEF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2"/>
          <p:cNvSpPr/>
          <p:nvPr/>
        </p:nvSpPr>
        <p:spPr>
          <a:xfrm>
            <a:off x="7829550" y="4942433"/>
            <a:ext cx="4819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Vendas mensais</a:t>
            </a:r>
            <a:endParaRPr lang="en-US" sz="1500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9550" y="5304383"/>
            <a:ext cx="4381500" cy="3668167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12582525" y="4761458"/>
            <a:ext cx="4381500" cy="4392067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AEF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4"/>
          <p:cNvSpPr/>
          <p:nvPr/>
        </p:nvSpPr>
        <p:spPr>
          <a:xfrm>
            <a:off x="12801600" y="4942433"/>
            <a:ext cx="43376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por região</a:t>
            </a:r>
            <a:endParaRPr lang="en-US" sz="1500" dirty="0"/>
          </a:p>
        </p:txBody>
      </p:sp>
      <p:sp>
        <p:nvSpPr>
          <p:cNvPr id="59" name="Shape 55"/>
          <p:cNvSpPr/>
          <p:nvPr/>
        </p:nvSpPr>
        <p:spPr>
          <a:xfrm>
            <a:off x="14201775" y="6566892"/>
            <a:ext cx="1143000" cy="11430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6"/>
          <p:cNvSpPr/>
          <p:nvPr/>
        </p:nvSpPr>
        <p:spPr>
          <a:xfrm>
            <a:off x="1047750" y="96297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7"/>
          <p:cNvSpPr/>
          <p:nvPr/>
        </p:nvSpPr>
        <p:spPr>
          <a:xfrm>
            <a:off x="1257300" y="95631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62" name="Text 58"/>
          <p:cNvSpPr/>
          <p:nvPr/>
        </p:nvSpPr>
        <p:spPr>
          <a:xfrm>
            <a:off x="16545371" y="9563100"/>
            <a:ext cx="7710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TÉCNICA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é construído.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3190875" y="4096196"/>
            <a:ext cx="4953000" cy="18859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562350" y="4486721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5700" y="462007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86250" y="4429571"/>
            <a:ext cx="146521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4286250" y="4867721"/>
            <a:ext cx="14652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562350" y="5286821"/>
            <a:ext cx="828824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714750" y="5353496"/>
            <a:ext cx="6002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67374" y="5286821"/>
            <a:ext cx="671364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619774" y="5353496"/>
            <a:ext cx="4427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214938" y="5286821"/>
            <a:ext cx="1125736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367338" y="5353496"/>
            <a:ext cx="8971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Recharts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16873" y="5286821"/>
            <a:ext cx="1070967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569273" y="5353496"/>
            <a:ext cx="8423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15350" y="4715321"/>
            <a:ext cx="13830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/ JSON</a:t>
            </a:r>
            <a:endParaRPr lang="en-US" sz="15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9625" y="5039171"/>
            <a:ext cx="1428750" cy="3238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144125" y="3877121"/>
            <a:ext cx="4953000" cy="2324100"/>
          </a:xfrm>
          <a:prstGeom prst="roundRect">
            <a:avLst>
              <a:gd name="adj" fmla="val 90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10515600" y="4267646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8950" y="4400996"/>
            <a:ext cx="304800" cy="304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239500" y="4210496"/>
            <a:ext cx="142395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2250" dirty="0"/>
          </a:p>
        </p:txBody>
      </p:sp>
      <p:sp>
        <p:nvSpPr>
          <p:cNvPr id="23" name="Text 18"/>
          <p:cNvSpPr/>
          <p:nvPr/>
        </p:nvSpPr>
        <p:spPr>
          <a:xfrm>
            <a:off x="11239500" y="4648646"/>
            <a:ext cx="14239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10515600" y="5067746"/>
            <a:ext cx="1008757" cy="361950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10668000" y="5134421"/>
            <a:ext cx="7801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11600557" y="5067746"/>
            <a:ext cx="984498" cy="361950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11752957" y="5134421"/>
            <a:ext cx="7558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12661255" y="5067746"/>
            <a:ext cx="1154609" cy="361950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4"/>
          <p:cNvSpPr/>
          <p:nvPr/>
        </p:nvSpPr>
        <p:spPr>
          <a:xfrm>
            <a:off x="12813655" y="5134421"/>
            <a:ext cx="9260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openpyxl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10515600" y="5505896"/>
            <a:ext cx="937022" cy="361950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6"/>
          <p:cNvSpPr/>
          <p:nvPr/>
        </p:nvSpPr>
        <p:spPr>
          <a:xfrm>
            <a:off x="10668000" y="5572571"/>
            <a:ext cx="7084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5788670" y="6658421"/>
            <a:ext cx="6710660" cy="561975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4895" y="6815584"/>
            <a:ext cx="247650" cy="24765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26845" y="6801296"/>
            <a:ext cx="59701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banco de dados — processamento em memória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0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16555641" y="9525000"/>
            <a:ext cx="7608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14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ENGENHARIA DE REQUISITOS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Levantamento de requisitos.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896368"/>
            <a:ext cx="7924800" cy="7285732"/>
          </a:xfrm>
          <a:prstGeom prst="roundRect">
            <a:avLst>
              <a:gd name="adj" fmla="val 3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95425" y="2324993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8300" y="2467868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38375" y="2391668"/>
            <a:ext cx="15500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Técnicas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495425" y="3315593"/>
            <a:ext cx="95250" cy="9525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743075" y="3201293"/>
            <a:ext cx="265334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do problema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495425" y="3829943"/>
            <a:ext cx="95250" cy="9525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743075" y="3715643"/>
            <a:ext cx="274701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Prototipação de telas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495425" y="4344293"/>
            <a:ext cx="95250" cy="9525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743075" y="4229993"/>
            <a:ext cx="189398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Benchmarking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713262" y="4229993"/>
            <a:ext cx="26624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(Power BI / Sheets)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315450" y="1896368"/>
            <a:ext cx="7924800" cy="7285732"/>
          </a:xfrm>
          <a:prstGeom prst="roundRect">
            <a:avLst>
              <a:gd name="adj" fmla="val 3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9763125" y="2324993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0" y="2467868"/>
            <a:ext cx="304800" cy="304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06075" y="2391668"/>
            <a:ext cx="228704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Stakeholders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9763125" y="3310830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9991725" y="3201293"/>
            <a:ext cx="16040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 final</a:t>
            </a:r>
            <a:endParaRPr lang="en-US" sz="2025" dirty="0"/>
          </a:p>
        </p:txBody>
      </p:sp>
      <p:sp>
        <p:nvSpPr>
          <p:cNvPr id="21" name="Shape 17"/>
          <p:cNvSpPr/>
          <p:nvPr/>
        </p:nvSpPr>
        <p:spPr>
          <a:xfrm>
            <a:off x="13392150" y="3310830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13620750" y="3201293"/>
            <a:ext cx="9100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</a:t>
            </a:r>
            <a:endParaRPr lang="en-US" sz="2025" dirty="0"/>
          </a:p>
        </p:txBody>
      </p:sp>
      <p:sp>
        <p:nvSpPr>
          <p:cNvPr id="23" name="Shape 19"/>
          <p:cNvSpPr/>
          <p:nvPr/>
        </p:nvSpPr>
        <p:spPr>
          <a:xfrm>
            <a:off x="9763125" y="3796605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/>
          <p:nvPr/>
        </p:nvSpPr>
        <p:spPr>
          <a:xfrm>
            <a:off x="9991725" y="3687068"/>
            <a:ext cx="12013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Avaliador</a:t>
            </a:r>
            <a:endParaRPr lang="en-US" sz="2025" dirty="0"/>
          </a:p>
        </p:txBody>
      </p:sp>
      <p:sp>
        <p:nvSpPr>
          <p:cNvPr id="25" name="Shape 21"/>
          <p:cNvSpPr/>
          <p:nvPr/>
        </p:nvSpPr>
        <p:spPr>
          <a:xfrm>
            <a:off x="13392150" y="3796605"/>
            <a:ext cx="95250" cy="9525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/>
          <p:nvPr/>
        </p:nvSpPr>
        <p:spPr>
          <a:xfrm>
            <a:off x="13620750" y="3687068"/>
            <a:ext cx="19060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</a:t>
            </a:r>
            <a:endParaRPr lang="en-US" sz="2025" dirty="0"/>
          </a:p>
        </p:txBody>
      </p:sp>
      <p:sp>
        <p:nvSpPr>
          <p:cNvPr id="27" name="Shape 23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6550432" y="9525000"/>
            <a:ext cx="7660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14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o sistema faz </a:t>
            </a:r>
            <a:r>
              <a:rPr lang="en-US" sz="4500" b="1" kern="0" spc="-112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 </a:t>
            </a:r>
            <a:r>
              <a:rPr lang="en-US" sz="450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ele faz.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1895475"/>
            <a:ext cx="7943850" cy="6905625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/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47750" y="8791575"/>
            <a:ext cx="79438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47750" y="1895475"/>
            <a:ext cx="7943850" cy="4762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47750" y="1895475"/>
            <a:ext cx="9525" cy="69056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982075" y="1895475"/>
            <a:ext cx="9525" cy="69056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57325" y="2305050"/>
            <a:ext cx="17721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Funcionais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286625" y="2343150"/>
            <a:ext cx="129540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19975" y="2400300"/>
            <a:ext cx="11049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63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RF01–RF25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7325" y="3033713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19275" y="2990850"/>
            <a:ext cx="25784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 arquivos .xlsx</a:t>
            </a:r>
            <a:endParaRPr lang="en-US" sz="2025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325" y="351948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19275" y="3476625"/>
            <a:ext cx="34070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Limpa e organiza a planilha</a:t>
            </a:r>
            <a:endParaRPr lang="en-US" sz="2025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7325" y="400526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19275" y="3962400"/>
            <a:ext cx="357617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 os tipos de coluna</a:t>
            </a:r>
            <a:endParaRPr lang="en-US" sz="202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7325" y="449103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19275" y="4448175"/>
            <a:ext cx="24224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 estatísticas</a:t>
            </a:r>
            <a:endParaRPr lang="en-US" sz="2025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57325" y="4976813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19275" y="4933950"/>
            <a:ext cx="38323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Sugere os gráficos adequados</a:t>
            </a:r>
            <a:endParaRPr lang="en-US" sz="2025" dirty="0"/>
          </a:p>
        </p:txBody>
      </p:sp>
      <p:sp>
        <p:nvSpPr>
          <p:cNvPr id="22" name="Shape 15"/>
          <p:cNvSpPr/>
          <p:nvPr/>
        </p:nvSpPr>
        <p:spPr>
          <a:xfrm>
            <a:off x="9296400" y="1895475"/>
            <a:ext cx="7943850" cy="6905625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/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9296400" y="8791575"/>
            <a:ext cx="79438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7"/>
          <p:cNvSpPr/>
          <p:nvPr/>
        </p:nvSpPr>
        <p:spPr>
          <a:xfrm>
            <a:off x="9296400" y="1895475"/>
            <a:ext cx="7943850" cy="47625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9296400" y="1895475"/>
            <a:ext cx="9525" cy="69056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19"/>
          <p:cNvSpPr/>
          <p:nvPr/>
        </p:nvSpPr>
        <p:spPr>
          <a:xfrm>
            <a:off x="17230725" y="1895475"/>
            <a:ext cx="9525" cy="69056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9705975" y="2305050"/>
            <a:ext cx="243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F46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funcionais</a:t>
            </a:r>
            <a:endParaRPr lang="en-US" sz="2250" dirty="0"/>
          </a:p>
        </p:txBody>
      </p:sp>
      <p:sp>
        <p:nvSpPr>
          <p:cNvPr id="28" name="Shape 21"/>
          <p:cNvSpPr/>
          <p:nvPr/>
        </p:nvSpPr>
        <p:spPr>
          <a:xfrm>
            <a:off x="15228999" y="2343150"/>
            <a:ext cx="1601676" cy="361950"/>
          </a:xfrm>
          <a:prstGeom prst="roundRect">
            <a:avLst>
              <a:gd name="adj" fmla="val 2105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2"/>
          <p:cNvSpPr/>
          <p:nvPr/>
        </p:nvSpPr>
        <p:spPr>
          <a:xfrm>
            <a:off x="15396802" y="2381250"/>
            <a:ext cx="15445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RNF01–RNF17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9705975" y="3105150"/>
            <a:ext cx="85725" cy="85725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4"/>
          <p:cNvSpPr/>
          <p:nvPr/>
        </p:nvSpPr>
        <p:spPr>
          <a:xfrm>
            <a:off x="9925050" y="2990850"/>
            <a:ext cx="28422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de até 50 MB</a:t>
            </a:r>
            <a:endParaRPr lang="en-US" sz="2025" dirty="0"/>
          </a:p>
        </p:txBody>
      </p:sp>
      <p:sp>
        <p:nvSpPr>
          <p:cNvPr id="32" name="Shape 25"/>
          <p:cNvSpPr/>
          <p:nvPr/>
        </p:nvSpPr>
        <p:spPr>
          <a:xfrm>
            <a:off x="9705975" y="3590925"/>
            <a:ext cx="85725" cy="85725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6"/>
          <p:cNvSpPr/>
          <p:nvPr/>
        </p:nvSpPr>
        <p:spPr>
          <a:xfrm>
            <a:off x="9925050" y="3476625"/>
            <a:ext cx="33877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persistência de dados</a:t>
            </a:r>
            <a:endParaRPr lang="en-US" sz="2025" dirty="0"/>
          </a:p>
        </p:txBody>
      </p:sp>
      <p:sp>
        <p:nvSpPr>
          <p:cNvPr id="34" name="Shape 27"/>
          <p:cNvSpPr/>
          <p:nvPr/>
        </p:nvSpPr>
        <p:spPr>
          <a:xfrm>
            <a:off x="9705975" y="4076700"/>
            <a:ext cx="85725" cy="85725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28"/>
          <p:cNvSpPr/>
          <p:nvPr/>
        </p:nvSpPr>
        <p:spPr>
          <a:xfrm>
            <a:off x="9925050" y="3962400"/>
            <a:ext cx="23368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 configurado</a:t>
            </a:r>
            <a:endParaRPr lang="en-US" sz="2025" dirty="0"/>
          </a:p>
        </p:txBody>
      </p:sp>
      <p:sp>
        <p:nvSpPr>
          <p:cNvPr id="36" name="Shape 29"/>
          <p:cNvSpPr/>
          <p:nvPr/>
        </p:nvSpPr>
        <p:spPr>
          <a:xfrm>
            <a:off x="9705975" y="4562475"/>
            <a:ext cx="85725" cy="85725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0"/>
          <p:cNvSpPr/>
          <p:nvPr/>
        </p:nvSpPr>
        <p:spPr>
          <a:xfrm>
            <a:off x="9925050" y="4448175"/>
            <a:ext cx="256207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responsiva</a:t>
            </a:r>
            <a:endParaRPr lang="en-US" sz="2025" dirty="0"/>
          </a:p>
        </p:txBody>
      </p:sp>
      <p:sp>
        <p:nvSpPr>
          <p:cNvPr id="38" name="Shape 31"/>
          <p:cNvSpPr/>
          <p:nvPr/>
        </p:nvSpPr>
        <p:spPr>
          <a:xfrm>
            <a:off x="9705975" y="5048250"/>
            <a:ext cx="85725" cy="85725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2"/>
          <p:cNvSpPr/>
          <p:nvPr/>
        </p:nvSpPr>
        <p:spPr>
          <a:xfrm>
            <a:off x="9925050" y="4933950"/>
            <a:ext cx="37590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de erro amigáveis</a:t>
            </a:r>
            <a:endParaRPr lang="en-US" sz="2025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7750" y="904875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390650" y="9029700"/>
            <a:ext cx="76770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Diferencial: cada requisito está rastreado ao código que o implementa.</a:t>
            </a:r>
            <a:endParaRPr lang="en-US" sz="1725" dirty="0"/>
          </a:p>
        </p:txBody>
      </p:sp>
      <p:sp>
        <p:nvSpPr>
          <p:cNvPr id="42" name="Shape 34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5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16566207" y="9525000"/>
            <a:ext cx="7502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14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FORMAL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Especificação formal (SRS).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4200079"/>
            <a:ext cx="5187851" cy="2525911"/>
          </a:xfrm>
          <a:prstGeom prst="roundRect">
            <a:avLst>
              <a:gd name="adj" fmla="val 82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38275" y="4609654"/>
            <a:ext cx="48474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38275" y="5057329"/>
            <a:ext cx="484748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Introdução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38275" y="5676454"/>
            <a:ext cx="453900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Propósito, escopo e definições do sistema.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59451" y="4200079"/>
            <a:ext cx="5188000" cy="2525911"/>
          </a:xfrm>
          <a:prstGeom prst="roundRect">
            <a:avLst>
              <a:gd name="adj" fmla="val 82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949976" y="4609654"/>
            <a:ext cx="4847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949976" y="5057329"/>
            <a:ext cx="48476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Descrição geral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49976" y="5676454"/>
            <a:ext cx="453915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Contexto, usuários e restrições do produto.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71300" y="4369594"/>
            <a:ext cx="5168950" cy="2186880"/>
          </a:xfrm>
          <a:prstGeom prst="roundRect">
            <a:avLst>
              <a:gd name="adj" fmla="val 9582"/>
            </a:avLst>
          </a:prstGeom>
          <a:solidFill>
            <a:srgbClr val="4F46E5"/>
          </a:solidFill>
          <a:ln/>
          <a:effectLst>
            <a:outerShdw blurRad="457200" dist="209550" dir="5400000" algn="bl" rotWithShape="0">
              <a:srgbClr val="4F46E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452300" y="4769644"/>
            <a:ext cx="48476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7D2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452300" y="5217319"/>
            <a:ext cx="48476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Requisitos específicos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452300" y="5836444"/>
            <a:ext cx="48476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 e RNF detalhados e rastreáveis.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550283" y="9525000"/>
            <a:ext cx="7661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14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 ÁGIL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Visão ágil.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086868"/>
            <a:ext cx="16192500" cy="1219200"/>
          </a:xfrm>
          <a:prstGeom prst="roundRect">
            <a:avLst>
              <a:gd name="adj" fmla="val 15625"/>
            </a:avLst>
          </a:prstGeom>
          <a:solidFill>
            <a:srgbClr val="0F172A"/>
          </a:solidFill>
          <a:ln/>
          <a:effectLst>
            <a:outerShdw blurRad="457200" dist="20955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28750" y="2410718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C7D2FE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2100" y="2544068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28850" y="2496443"/>
            <a:ext cx="125247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story: </a:t>
            </a:r>
            <a:r>
              <a:rPr lang="en-US" sz="22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“Como usuário, quero enviar um Excel para gerar gráficos sem esforço.”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591818"/>
            <a:ext cx="7943850" cy="5666482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438275" y="3944243"/>
            <a:ext cx="78790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 </a:t>
            </a:r>
            <a:r>
              <a:rPr lang="en-US" sz="16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entrada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38275" y="4458593"/>
            <a:ext cx="78790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um item pode entrar na sprint.</a:t>
            </a:r>
            <a:endParaRPr lang="en-US" sz="1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8275" y="49681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00225" y="4934843"/>
            <a:ext cx="16152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História clara</a:t>
            </a:r>
            <a:endParaRPr lang="en-US" sz="1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8275" y="5415855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00225" y="5382518"/>
            <a:ext cx="222512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definidos</a:t>
            </a:r>
            <a:endParaRPr lang="en-US" sz="1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8275" y="586353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00225" y="5830193"/>
            <a:ext cx="118794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Estimável</a:t>
            </a:r>
            <a:endParaRPr lang="en-US" sz="1950" dirty="0"/>
          </a:p>
        </p:txBody>
      </p:sp>
      <p:sp>
        <p:nvSpPr>
          <p:cNvPr id="17" name="Shape 11"/>
          <p:cNvSpPr/>
          <p:nvPr/>
        </p:nvSpPr>
        <p:spPr>
          <a:xfrm>
            <a:off x="9296400" y="3591818"/>
            <a:ext cx="7943850" cy="5666482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2"/>
          <p:cNvSpPr/>
          <p:nvPr/>
        </p:nvSpPr>
        <p:spPr>
          <a:xfrm>
            <a:off x="9686925" y="3944243"/>
            <a:ext cx="78790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DoD </a:t>
            </a:r>
            <a:r>
              <a:rPr lang="en-US" sz="165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saída</a:t>
            </a:r>
            <a:endParaRPr lang="en-US" sz="2250" dirty="0"/>
          </a:p>
        </p:txBody>
      </p:sp>
      <p:sp>
        <p:nvSpPr>
          <p:cNvPr id="19" name="Text 13"/>
          <p:cNvSpPr/>
          <p:nvPr/>
        </p:nvSpPr>
        <p:spPr>
          <a:xfrm>
            <a:off x="9686925" y="4458593"/>
            <a:ext cx="78790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está realmente concluído.</a:t>
            </a:r>
            <a:endParaRPr lang="en-US" sz="16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86925" y="496818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48875" y="4934843"/>
            <a:ext cx="17447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Implementado</a:t>
            </a:r>
            <a:endParaRPr lang="en-US" sz="1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82625" y="496818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44575" y="4934843"/>
            <a:ext cx="101337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Testado</a:t>
            </a:r>
            <a:endParaRPr lang="en-US" sz="19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86925" y="5415855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048875" y="5382518"/>
            <a:ext cx="208657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persistência</a:t>
            </a:r>
            <a:endParaRPr lang="en-US" sz="1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382625" y="5415855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3744575" y="5382518"/>
            <a:ext cx="172045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Documentado</a:t>
            </a:r>
            <a:endParaRPr lang="en-US" sz="1950" dirty="0"/>
          </a:p>
        </p:txBody>
      </p:sp>
      <p:sp>
        <p:nvSpPr>
          <p:cNvPr id="28" name="Shape 18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19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30" name="Text 20"/>
          <p:cNvSpPr/>
          <p:nvPr/>
        </p:nvSpPr>
        <p:spPr>
          <a:xfrm>
            <a:off x="16550432" y="9525000"/>
            <a:ext cx="7660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14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sistema certo, construído corretamente.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1895475"/>
            <a:ext cx="7943850" cy="647700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76375" y="2286000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9725" y="2419350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00275" y="2343150"/>
            <a:ext cx="198794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Verificação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76375" y="3028950"/>
            <a:ext cx="7795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“Construímos certo?”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476375" y="3543300"/>
            <a:ext cx="729919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testáveis e contratos tipados entre frontend e backend.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9296400" y="1895475"/>
            <a:ext cx="7943850" cy="647700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381000" dist="1714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9725025" y="2286000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8375" y="2419350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448925" y="2343150"/>
            <a:ext cx="17697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F46E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725025" y="3028950"/>
            <a:ext cx="77952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“É o produto certo?”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9725025" y="3409950"/>
            <a:ext cx="7795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cenários </a:t>
            </a:r>
            <a:r>
              <a:rPr lang="en-US" sz="1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aceitação </a:t>
            </a:r>
            <a:r>
              <a:rPr lang="en-US" sz="16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(V1–V9) </a:t>
            </a:r>
            <a:r>
              <a:rPr lang="en-US" sz="16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por exemplo: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9725025" y="3895725"/>
            <a:ext cx="419100" cy="323850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9820275" y="3933825"/>
            <a:ext cx="304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277475" y="3919537"/>
            <a:ext cx="209847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Planilha de vendas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433102" y="3905250"/>
            <a:ext cx="23330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gráfico de barras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9725025" y="4352925"/>
            <a:ext cx="419100" cy="323850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9820275" y="4391025"/>
            <a:ext cx="304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0277475" y="4376738"/>
            <a:ext cx="16503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Série temporal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1984980" y="4362450"/>
            <a:ext cx="21285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gráfico de linha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725025" y="4810125"/>
            <a:ext cx="419100" cy="323850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9820275" y="4848225"/>
            <a:ext cx="304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V3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0277475" y="4833938"/>
            <a:ext cx="20764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Poucas categorias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2411075" y="4819650"/>
            <a:ext cx="2202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gráfico de pizza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9725025" y="5267325"/>
            <a:ext cx="419100" cy="323850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9820275" y="5305425"/>
            <a:ext cx="304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V5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0277475" y="5291138"/>
            <a:ext cx="18027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 inválido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2137380" y="5276850"/>
            <a:ext cx="14319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erro claro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9725025" y="5724525"/>
            <a:ext cx="419100" cy="323850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9"/>
          <p:cNvSpPr/>
          <p:nvPr/>
        </p:nvSpPr>
        <p:spPr>
          <a:xfrm>
            <a:off x="9820275" y="5762625"/>
            <a:ext cx="304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F46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V8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10277475" y="5748338"/>
            <a:ext cx="13491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Privacidade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1683752" y="5734050"/>
            <a:ext cx="28050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nada fica no servidor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1047750" y="8601075"/>
            <a:ext cx="16192500" cy="7143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7D2FE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3"/>
          <p:cNvSpPr/>
          <p:nvPr/>
        </p:nvSpPr>
        <p:spPr>
          <a:xfrm>
            <a:off x="6063109" y="8820150"/>
            <a:ext cx="15839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Necessidade</a:t>
            </a:r>
            <a:endParaRPr lang="en-US" sz="18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3521" y="8863013"/>
            <a:ext cx="381000" cy="1905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265021" y="8820150"/>
            <a:ext cx="11031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</a:t>
            </a:r>
            <a:endParaRPr lang="en-US" sz="18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82435" y="8863013"/>
            <a:ext cx="381000" cy="1905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0053935" y="8820150"/>
            <a:ext cx="8685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18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36796" y="8863013"/>
            <a:ext cx="381000" cy="1905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1608296" y="8820150"/>
            <a:ext cx="6927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38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46" name="Text 39"/>
          <p:cNvSpPr/>
          <p:nvPr/>
        </p:nvSpPr>
        <p:spPr>
          <a:xfrm>
            <a:off x="16591657" y="9525000"/>
            <a:ext cx="7247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14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Qualquer um roda em 1 comando.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4000500" y="4200971"/>
            <a:ext cx="10287000" cy="17145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  <a:effectLst>
            <a:outerShdw blurRad="571500" dist="247650" dir="5400000" algn="bl" rotWithShape="0">
              <a:srgbClr val="0F172A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00500" y="4724846"/>
            <a:ext cx="10287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210050" y="4400996"/>
            <a:ext cx="123825" cy="123825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429125" y="4400996"/>
            <a:ext cx="123825" cy="123825"/>
          </a:xfrm>
          <a:prstGeom prst="ellipse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648200" y="4400996"/>
            <a:ext cx="123825" cy="123825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981575" y="4353371"/>
            <a:ext cx="487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1500" y="5096321"/>
            <a:ext cx="98336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r>
              <a:rPr lang="en-US" sz="27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compose up </a:t>
            </a:r>
            <a:r>
              <a:rPr lang="en-US" sz="2700" dirty="0">
                <a:solidFill>
                  <a:srgbClr val="A5B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--build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815632" y="6296471"/>
            <a:ext cx="3764459" cy="6000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28600" dist="952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2807" y="6472684"/>
            <a:ext cx="247650" cy="2476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34757" y="6458396"/>
            <a:ext cx="29748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instalar Python/Node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770590" y="6296471"/>
            <a:ext cx="1874639" cy="6000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28600" dist="952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7765" y="6472684"/>
            <a:ext cx="247650" cy="2476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89715" y="6458396"/>
            <a:ext cx="107453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~535 MB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0835729" y="6296471"/>
            <a:ext cx="2636639" cy="6000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28600" dist="9525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2904" y="6472684"/>
            <a:ext cx="247650" cy="2476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54854" y="6458396"/>
            <a:ext cx="1936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localhost:8080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636752" y="9525000"/>
            <a:ext cx="6796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14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entregamos.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729484"/>
            <a:ext cx="8371433" cy="104775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0" dist="1143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81125" y="4005709"/>
            <a:ext cx="495300" cy="495300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" y="4110484"/>
            <a:ext cx="28575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66925" y="4062859"/>
            <a:ext cx="736175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funcional </a:t>
            </a:r>
            <a:r>
              <a:rPr lang="en-US" sz="2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upload → análise → gráficos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4967734"/>
            <a:ext cx="8371433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0" dist="1143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1381125" y="5339209"/>
            <a:ext cx="495300" cy="495300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900" y="5443984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66925" y="5243959"/>
            <a:ext cx="7229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 SRS completa </a:t>
            </a:r>
            <a:r>
              <a:rPr lang="en-US" sz="2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RF/RNF, IEEE 830, Backlog, V&amp;V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047750" y="6396484"/>
            <a:ext cx="8371433" cy="104775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0" dist="1143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1381125" y="6672709"/>
            <a:ext cx="495300" cy="495300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5900" y="6777484"/>
            <a:ext cx="285750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66925" y="6748909"/>
            <a:ext cx="46636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Containerizado e fácil de rodar</a:t>
            </a:r>
            <a:endParaRPr lang="en-US" sz="2250" dirty="0"/>
          </a:p>
        </p:txBody>
      </p:sp>
      <p:sp>
        <p:nvSpPr>
          <p:cNvPr id="16" name="Shape 11"/>
          <p:cNvSpPr/>
          <p:nvPr/>
        </p:nvSpPr>
        <p:spPr>
          <a:xfrm>
            <a:off x="9743033" y="1915418"/>
            <a:ext cx="7497217" cy="7342882"/>
          </a:xfrm>
          <a:prstGeom prst="roundRect">
            <a:avLst>
              <a:gd name="adj" fmla="val 2854"/>
            </a:avLst>
          </a:prstGeom>
          <a:solidFill>
            <a:srgbClr val="0F172A"/>
          </a:solidFill>
          <a:ln/>
          <a:effectLst>
            <a:outerShdw blurRad="457200" dist="20955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/>
          <p:nvPr/>
        </p:nvSpPr>
        <p:spPr>
          <a:xfrm>
            <a:off x="10143083" y="2296418"/>
            <a:ext cx="73668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Próximos passos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10143083" y="2810768"/>
            <a:ext cx="73668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onde o projeto pode evoluir.</a:t>
            </a:r>
            <a:endParaRPr lang="en-US" sz="1575" dirty="0"/>
          </a:p>
        </p:txBody>
      </p:sp>
      <p:sp>
        <p:nvSpPr>
          <p:cNvPr id="19" name="Shape 14"/>
          <p:cNvSpPr/>
          <p:nvPr/>
        </p:nvSpPr>
        <p:spPr>
          <a:xfrm>
            <a:off x="10143083" y="3334643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A5B4FC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10104983" y="333464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25" dirty="0"/>
          </a:p>
        </p:txBody>
      </p:sp>
      <p:sp>
        <p:nvSpPr>
          <p:cNvPr id="21" name="Text 16"/>
          <p:cNvSpPr/>
          <p:nvPr/>
        </p:nvSpPr>
        <p:spPr>
          <a:xfrm>
            <a:off x="10638383" y="3348930"/>
            <a:ext cx="273321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automatizados</a:t>
            </a:r>
            <a:endParaRPr lang="en-US" sz="2025" dirty="0"/>
          </a:p>
        </p:txBody>
      </p:sp>
      <p:sp>
        <p:nvSpPr>
          <p:cNvPr id="22" name="Shape 17"/>
          <p:cNvSpPr/>
          <p:nvPr/>
        </p:nvSpPr>
        <p:spPr>
          <a:xfrm>
            <a:off x="10143083" y="3887093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A5B4FC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10104983" y="388709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25" dirty="0"/>
          </a:p>
        </p:txBody>
      </p:sp>
      <p:sp>
        <p:nvSpPr>
          <p:cNvPr id="24" name="Text 19"/>
          <p:cNvSpPr/>
          <p:nvPr/>
        </p:nvSpPr>
        <p:spPr>
          <a:xfrm>
            <a:off x="10638383" y="3901380"/>
            <a:ext cx="220161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 real</a:t>
            </a:r>
            <a:endParaRPr lang="en-US" sz="2025" dirty="0"/>
          </a:p>
        </p:txBody>
      </p:sp>
      <p:sp>
        <p:nvSpPr>
          <p:cNvPr id="25" name="Shape 20"/>
          <p:cNvSpPr/>
          <p:nvPr/>
        </p:nvSpPr>
        <p:spPr>
          <a:xfrm>
            <a:off x="10143083" y="4439543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A5B4FC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10104983" y="443954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25" dirty="0"/>
          </a:p>
        </p:txBody>
      </p:sp>
      <p:sp>
        <p:nvSpPr>
          <p:cNvPr id="27" name="Text 22"/>
          <p:cNvSpPr/>
          <p:nvPr/>
        </p:nvSpPr>
        <p:spPr>
          <a:xfrm>
            <a:off x="10638383" y="4453830"/>
            <a:ext cx="218345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Exportar relatório</a:t>
            </a:r>
            <a:endParaRPr lang="en-US" sz="2025" dirty="0"/>
          </a:p>
        </p:txBody>
      </p:sp>
      <p:sp>
        <p:nvSpPr>
          <p:cNvPr id="28" name="Shape 23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4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6598652" y="9525000"/>
            <a:ext cx="7177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14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· AGENDA 2030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219200"/>
            <a:ext cx="178117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112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Alinhamento com a ODS 9.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1896368"/>
            <a:ext cx="5712916" cy="7361932"/>
          </a:xfrm>
          <a:prstGeom prst="roundRect">
            <a:avLst>
              <a:gd name="adj" fmla="val 4001"/>
            </a:avLst>
          </a:prstGeom>
          <a:solidFill>
            <a:srgbClr val="FD6925"/>
          </a:solidFill>
          <a:ln/>
          <a:effectLst>
            <a:outerShdw blurRad="457200" dist="209550" dir="5400000" algn="bl" rotWithShape="0">
              <a:srgbClr val="FD692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428750" y="2296418"/>
            <a:ext cx="544600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428750" y="7452420"/>
            <a:ext cx="50994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Indústria, Inovação e Infraestrutura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28750" y="8271570"/>
            <a:ext cx="5099444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de Desenvolvimento Sustentável da ONU.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084516" y="3324969"/>
            <a:ext cx="10155734" cy="1182886"/>
          </a:xfrm>
          <a:prstGeom prst="roundRect">
            <a:avLst>
              <a:gd name="adj" fmla="val 1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0" dist="1143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398841" y="3621137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716" y="3764012"/>
            <a:ext cx="304800" cy="30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17991" y="3582144"/>
            <a:ext cx="95787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Fomenta a inovação </a:t>
            </a:r>
            <a:r>
              <a:rPr lang="en-US" sz="1350" b="1" dirty="0">
                <a:solidFill>
                  <a:srgbClr val="FD6925"/>
                </a:solidFill>
                <a:highlight>
                  <a:srgbClr val="FFF1E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 9.5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17991" y="3944094"/>
            <a:ext cx="9578727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 a análise de dados e aproxima a tecnologia de quem não é especialista.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7084516" y="4679305"/>
            <a:ext cx="10155734" cy="1489472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0" dist="1143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398841" y="5128766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716" y="5271641"/>
            <a:ext cx="304800" cy="304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17991" y="4936480"/>
            <a:ext cx="95787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digital acessível </a:t>
            </a:r>
            <a:r>
              <a:rPr lang="en-US" sz="1350" b="1" dirty="0">
                <a:solidFill>
                  <a:srgbClr val="FD6925"/>
                </a:solidFill>
                <a:highlight>
                  <a:srgbClr val="FFF1E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 9.1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8217991" y="5298430"/>
            <a:ext cx="8969172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e containerizado com Docker: roda em qualquer máquina, sem custo de licença.</a:t>
            </a:r>
            <a:endParaRPr lang="en-US" sz="1725" dirty="0"/>
          </a:p>
        </p:txBody>
      </p:sp>
      <p:sp>
        <p:nvSpPr>
          <p:cNvPr id="18" name="Shape 14"/>
          <p:cNvSpPr/>
          <p:nvPr/>
        </p:nvSpPr>
        <p:spPr>
          <a:xfrm>
            <a:off x="7084516" y="6340227"/>
            <a:ext cx="10155734" cy="1489472"/>
          </a:xfrm>
          <a:prstGeom prst="roundRect">
            <a:avLst>
              <a:gd name="adj" fmla="val 115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85750" dist="114300" dir="5400000" algn="bl" rotWithShape="0">
              <a:srgbClr val="0F172A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7398841" y="6789688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1716" y="6932563"/>
            <a:ext cx="304800" cy="304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17991" y="6597402"/>
            <a:ext cx="95787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Industrialização inclusiva </a:t>
            </a:r>
            <a:r>
              <a:rPr lang="en-US" sz="1350" b="1" dirty="0">
                <a:solidFill>
                  <a:srgbClr val="FD6925"/>
                </a:solidFill>
                <a:highlight>
                  <a:srgbClr val="FFF1E9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 9.3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8217991" y="6959352"/>
            <a:ext cx="8969172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 análise de dados a pequenas empresas e usuários antes sem acesso a ferramentas de BI.</a:t>
            </a:r>
            <a:endParaRPr lang="en-US" sz="1725" dirty="0"/>
          </a:p>
        </p:txBody>
      </p:sp>
      <p:sp>
        <p:nvSpPr>
          <p:cNvPr id="23" name="Shape 18"/>
          <p:cNvSpPr/>
          <p:nvPr/>
        </p:nvSpPr>
        <p:spPr>
          <a:xfrm>
            <a:off x="1047750" y="9591675"/>
            <a:ext cx="95250" cy="9525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/>
          <p:nvPr/>
        </p:nvSpPr>
        <p:spPr>
          <a:xfrm>
            <a:off x="1257300" y="9525000"/>
            <a:ext cx="191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6596122" y="9525000"/>
            <a:ext cx="7203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14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43950" y="3414713"/>
            <a:ext cx="800100" cy="800100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6366F1">
                  <a:alpha val="100000"/>
                </a:srgbClr>
              </a:gs>
              <a:gs pos="100000">
                <a:srgbClr val="4F46E5">
                  <a:alpha val="100000"/>
                </a:srgbClr>
              </a:gs>
            </a:gsLst>
            <a:lin ang="2700000" scaled="0"/>
          </a:gradFill>
          <a:ln/>
          <a:effectLst>
            <a:outerShdw blurRad="419100" dist="171450" dir="5400000" algn="bl" rotWithShape="0">
              <a:srgbClr val="4F46E5">
                <a:alpha val="4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4450" y="3605213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2783" y="4595813"/>
            <a:ext cx="566243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100" b="1" kern="0" spc="-2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Obrigado!</a:t>
            </a:r>
            <a:endParaRPr lang="en-US" sz="8100" dirty="0"/>
          </a:p>
        </p:txBody>
      </p:sp>
      <p:sp>
        <p:nvSpPr>
          <p:cNvPr id="5" name="Text 2"/>
          <p:cNvSpPr/>
          <p:nvPr/>
        </p:nvSpPr>
        <p:spPr>
          <a:xfrm>
            <a:off x="5387496" y="5948363"/>
            <a:ext cx="75128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7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“Da planilha ao insight, automaticamente.”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946953" y="6900863"/>
            <a:ext cx="23939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Data Analyzer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1207</Words>
  <Application>Microsoft Office PowerPoint</Application>
  <PresentationFormat>Personalizar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Inter</vt:lpstr>
      <vt:lpstr>JetBrains Mono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Guimarães Fabrício</cp:lastModifiedBy>
  <cp:revision>2</cp:revision>
  <dcterms:created xsi:type="dcterms:W3CDTF">2026-06-18T09:42:27Z</dcterms:created>
  <dcterms:modified xsi:type="dcterms:W3CDTF">2026-06-18T09:45:07Z</dcterms:modified>
</cp:coreProperties>
</file>